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5" r:id="rId7"/>
    <p:sldId id="262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BEC44-3C45-30BD-B72D-527E3CBB9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5D49E-27E4-F35F-D4C4-8B13841E9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A2093-6175-9161-0FCB-EF613FC5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B83D0-3697-4BF7-B6DE-F210558E97FA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427D7-6DAA-693F-6544-43EE37FFA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FFCD3-A9CE-6BF5-F14E-DB77F9237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1398-7209-4130-AEA6-65FF33363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83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12261-3B43-3499-4BC5-97A9DA259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C8968-3364-BA74-4557-31BC56B0D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DAF69-933F-C103-DA19-C3F77EB3C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B83D0-3697-4BF7-B6DE-F210558E97FA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10003-4A08-02BC-273F-DE4351337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57EB8-6F9A-E58E-A0AB-9EEEFE325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1398-7209-4130-AEA6-65FF33363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05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C0276-CBEB-E921-854B-54B7A6A5E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C2C89-6E88-EA80-B1D9-49D4DF32C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C6CB9-0AC3-AC16-4D08-5ABA0179B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B83D0-3697-4BF7-B6DE-F210558E97FA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AA9D0-58A0-E13D-76CC-760630E90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7930B-ECA2-CCE9-013B-A7EBB2F2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1398-7209-4130-AEA6-65FF33363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760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F4D6F-2DF4-9E91-30A3-ABA7FD72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C0057-AAA0-886B-12FE-50BF02A0AD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A60C0B-B9A4-4C91-E350-1CD3B2F0A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5112E-D86F-E032-4489-B41225EB3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B83D0-3697-4BF7-B6DE-F210558E97FA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ABB15-9D41-6AFD-CDFC-80ED8DEE9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55774-C187-3E51-D909-32DDDFC0E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1398-7209-4130-AEA6-65FF33363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8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AA344-9DAD-3396-264D-FD13528F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48A2D-BADD-2544-144C-1AE60A0AB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A2055-F447-DB94-D6E9-473D035A1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5B238B-2F8E-BCA6-5F61-46550F74EC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0B4A1-7C7C-C542-274F-04C3D719E3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6DCC1A-800F-85A5-AFA7-F42B7938F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B83D0-3697-4BF7-B6DE-F210558E97FA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F8557A-E1B8-C203-CA19-55C3228E4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B1019-1BE6-E648-E4DB-DA4BA473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1398-7209-4130-AEA6-65FF33363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3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4B3B4-A9D8-4598-E9CC-1A5C5A8F1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D4CCF8-0448-82B0-839A-003AB0D76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B83D0-3697-4BF7-B6DE-F210558E97FA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6FFE7B-03EB-CA20-7DA7-530FEB53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E5F38-9348-C6B3-BBA0-B32F27979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1398-7209-4130-AEA6-65FF33363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45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11F5A8-E271-D80F-06F0-8D3D555EA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B83D0-3697-4BF7-B6DE-F210558E97FA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19B996-F5E8-4988-B972-3FE7A3E48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73AEC-9B5B-D4CE-07E3-B893788CB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1398-7209-4130-AEA6-65FF33363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60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BAA77-FD71-386F-413E-C01ED2020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72DA8-F1C4-C691-F8CA-C57BBBC4F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E85E34-E08B-250F-5180-18A9F0E12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917A4-7EBC-856A-FFE5-9E2E976CE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B83D0-3697-4BF7-B6DE-F210558E97FA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D0B48-47D3-5326-8ECD-E567E5D5F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41246-AE60-D35D-0FF5-3EA1B0E30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1398-7209-4130-AEA6-65FF33363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21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68B2-E595-0F82-9E89-89A56B4C9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7EFD0E-7399-8E3A-6BED-98B0FE38DA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8D811-DC6A-F617-0AB7-82D13109B9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CE40D-108F-D9DB-CF9A-8E18FA15E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B83D0-3697-4BF7-B6DE-F210558E97FA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319B0-E0C7-66AA-B795-34C21BF90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9A2FC-87FF-29F2-B108-CF21F0A16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1398-7209-4130-AEA6-65FF33363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07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AA8A-91C1-91CE-5E5F-0CE70E94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36A0A-23D7-6427-6975-F7FA5F02B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76DF5-0310-322D-BC2E-DB6403FDF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B83D0-3697-4BF7-B6DE-F210558E97FA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DF7ED-AB0D-0A51-24EB-4C3BB2C4A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BA457-CE28-2038-37C0-7799D4A79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1398-7209-4130-AEA6-65FF33363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20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EF8F09-D23F-C064-494E-20977104FE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7FEDA-E650-CF97-BE7D-5FE918AFD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739E5-D08D-A2FF-0274-1A6604E49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B83D0-3697-4BF7-B6DE-F210558E97FA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14A19-77D2-6C93-7F72-9D53BDC39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3D15C-B675-6B75-CE86-FD529EE17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1398-7209-4130-AEA6-65FF33363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824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2A0449-B833-4F5D-5922-CDEDFF49E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6A568-78DA-E0F0-4330-5101853B1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135C3-9374-F494-5EEF-5306FAEF13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AB83D0-3697-4BF7-B6DE-F210558E97FA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9A949-BB98-E0DF-96A3-4A9631FE6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BE4DA-1FB8-E14F-9248-9349B6BE47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A51398-7209-4130-AEA6-65FF33363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83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88D39E-029C-96D4-8446-6DC1E0DAC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sz="6800" dirty="0"/>
              <a:t>Stress Level Prediction using Data Analysis and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99FB6-282A-C23E-12B8-24F0A4138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Fotini Knai-April 2026</a:t>
            </a:r>
          </a:p>
          <a:p>
            <a:pPr algn="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372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D809CA-AFEF-B6BE-78BB-5404FED92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Project Objective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3CDE4-071D-C08E-49C6-29AF2C8C6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/>
              <a:t>Analyze the factors that affect student stress levels.</a:t>
            </a:r>
          </a:p>
          <a:p>
            <a:r>
              <a:rPr lang="en-US" sz="2200"/>
              <a:t>Examine relationships between the variables in the dataset.</a:t>
            </a:r>
          </a:p>
          <a:p>
            <a:r>
              <a:rPr lang="en-US" sz="2200"/>
              <a:t>Present the findings through visualizations.</a:t>
            </a:r>
          </a:p>
          <a:p>
            <a:r>
              <a:rPr lang="en-US" sz="2200"/>
              <a:t>Build a machine learning model to predict stress level.</a:t>
            </a:r>
          </a:p>
          <a:p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265113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A9936-B18A-757C-FA37-78CCA9E38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Dataset Description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71588-8500-CE4B-92C5-25A1F4305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/>
              <a:t>We begin our analysis by loading the dataset from the file </a:t>
            </a:r>
            <a:r>
              <a:rPr lang="el-GR" sz="2200"/>
              <a:t>"StressLevelDataset.csv".</a:t>
            </a:r>
            <a:endParaRPr lang="en-US" sz="2200"/>
          </a:p>
          <a:p>
            <a:r>
              <a:rPr lang="en-US" sz="2200"/>
              <a:t>The dataset contains 1101 observations, each representing a student.</a:t>
            </a:r>
          </a:p>
          <a:p>
            <a:r>
              <a:rPr lang="en-US" sz="2200"/>
              <a:t>The dataset includes psychological, academic, and social factors.</a:t>
            </a:r>
          </a:p>
          <a:p>
            <a:r>
              <a:rPr lang="en-US" sz="2200"/>
              <a:t>Examples of variables: anxiety level, sleep quality, depression, and social support.</a:t>
            </a:r>
          </a:p>
          <a:p>
            <a:r>
              <a:rPr lang="en-US" sz="2200"/>
              <a:t>The variables can be grouped into psychological, social, and academic factors.</a:t>
            </a:r>
            <a:endParaRPr lang="el-GR" sz="2200"/>
          </a:p>
          <a:p>
            <a:endParaRPr lang="en-US" sz="2200"/>
          </a:p>
          <a:p>
            <a:r>
              <a:rPr lang="en-US" sz="2200"/>
              <a:t>The target variable is stress_level, which indicates the level of stress.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093660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1BE75-9F21-506F-0195-E4A43A414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Data Analysis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00045-5968-AA04-B44D-1471A5515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1700" dirty="0"/>
              <a:t>A correlation matrix was created to examine relationships between variables.</a:t>
            </a:r>
          </a:p>
          <a:p>
            <a:r>
              <a:rPr lang="en-US" sz="1700" dirty="0"/>
              <a:t>The heatmap shows both positive and negative correlations.</a:t>
            </a:r>
          </a:p>
          <a:p>
            <a:r>
              <a:rPr lang="en-US" sz="1700" dirty="0"/>
              <a:t>Several variables show strong relationships with </a:t>
            </a:r>
            <a:r>
              <a:rPr lang="en-US" sz="1700" b="1" dirty="0" err="1"/>
              <a:t>stress_level</a:t>
            </a:r>
            <a:r>
              <a:rPr lang="en-US" sz="1700" dirty="0"/>
              <a:t>.</a:t>
            </a:r>
          </a:p>
          <a:p>
            <a:r>
              <a:rPr lang="en-US" sz="1700" dirty="0"/>
              <a:t>Some variables are also correlated with each other.</a:t>
            </a:r>
          </a:p>
          <a:p>
            <a:r>
              <a:rPr lang="en-US" sz="1700" dirty="0"/>
              <a:t>This analysis helps identify important factors influencing stress.</a:t>
            </a:r>
          </a:p>
          <a:p>
            <a:endParaRPr lang="en-US" sz="1700" dirty="0"/>
          </a:p>
          <a:p>
            <a:endParaRPr lang="en-US" sz="1700" dirty="0"/>
          </a:p>
          <a:p>
            <a:pPr marL="0" indent="0">
              <a:buNone/>
            </a:pPr>
            <a:r>
              <a:rPr lang="en-US" sz="1700" dirty="0"/>
              <a:t>Red areas indicate positive correlations, meaning variables increase together, while blue areas indicate negative correlations, meaning one variable decreases as the other increases. 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1F64EE4-A0C0-101F-C4FA-AEBFD8C82626}"/>
              </a:ext>
            </a:extLst>
          </p:cNvPr>
          <p:cNvSpPr/>
          <p:nvPr/>
        </p:nvSpPr>
        <p:spPr>
          <a:xfrm>
            <a:off x="918923" y="5097104"/>
            <a:ext cx="196645" cy="1291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6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B08C5B1-0907-37C6-7266-004E8202E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Correlation Heatmap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D80575-388B-C777-1F29-2501AFD78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Red indicates positive correlation.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Blue indicates negative correlation.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Stronger colors represent stronger relationships between variables.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/>
          </a:p>
          <a:p>
            <a:r>
              <a:rPr lang="en-US" sz="1800" dirty="0"/>
              <a:t>Each cell in the heatmap represents the relationship between two variables.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C6E1E9-A28E-2844-D038-A5C7C7F03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53"/>
          <a:stretch>
            <a:fillRect/>
          </a:stretch>
        </p:blipFill>
        <p:spPr>
          <a:xfrm>
            <a:off x="5385816" y="1347783"/>
            <a:ext cx="6440424" cy="410708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503AF822-AFE7-2145-B4BA-FC6F87ECD968}"/>
              </a:ext>
            </a:extLst>
          </p:cNvPr>
          <p:cNvSpPr/>
          <p:nvPr/>
        </p:nvSpPr>
        <p:spPr>
          <a:xfrm>
            <a:off x="214834" y="4924683"/>
            <a:ext cx="196645" cy="1291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916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CD29F0-DC5A-E1FA-A13D-5AEFA249D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CF8E171-9D5B-C158-0E3A-985579C4E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Insights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87DB0B-BE2C-D08F-E68D-F0BFB0826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Anxiety and depression are positively correlated with stress.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Sleep quality is negatively correlated with stress.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Social support appears to reduce stress.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Some variables are strongly related to each other.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/>
          </a:p>
          <a:p>
            <a:r>
              <a:rPr lang="en-US" sz="1800" dirty="0"/>
              <a:t>We can see that factors like anxiety and depression increase stress, while sleep quality and social support help reduce it.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2DA427-F19B-5275-D9CE-F3C1DE8291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53"/>
          <a:stretch>
            <a:fillRect/>
          </a:stretch>
        </p:blipFill>
        <p:spPr>
          <a:xfrm>
            <a:off x="5385816" y="1347783"/>
            <a:ext cx="6440424" cy="4107080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8B88E9EE-AA8C-1127-CE09-01C57993BF38}"/>
              </a:ext>
            </a:extLst>
          </p:cNvPr>
          <p:cNvSpPr/>
          <p:nvPr/>
        </p:nvSpPr>
        <p:spPr>
          <a:xfrm>
            <a:off x="214834" y="5390265"/>
            <a:ext cx="196645" cy="1291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012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19486B-3F2B-5967-1DD6-F0A885992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Stress </a:t>
            </a:r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Level Distribution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2686D-A822-8C95-4AED-282B02EC3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The dataset contains three stress levels:0,1, and 2.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The distribution of stress levels is relatively balanced.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This is beneficial for building a machine learning model.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Balanced data helps the model learn better and avoid bias.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C533B1-7AF4-C8A4-F8D1-273C526016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994215"/>
            <a:ext cx="6440424" cy="481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033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851C60-259E-DCA0-B9F1-370B43242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0486E-EDA2-FA1E-F9EE-41EBA97A5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Machine Learning 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7B554-0F36-E98B-B72B-5619208A0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dirty="0"/>
              <a:t>The dataset was split into training and testing sets (80% / 20%).</a:t>
            </a:r>
          </a:p>
          <a:p>
            <a:r>
              <a:rPr lang="en-US" sz="2200" dirty="0"/>
              <a:t>A Logistic Regression model was used.</a:t>
            </a:r>
          </a:p>
          <a:p>
            <a:r>
              <a:rPr lang="en-US" sz="2200" dirty="0"/>
              <a:t>The model was trained on the training data.</a:t>
            </a:r>
          </a:p>
          <a:p>
            <a:r>
              <a:rPr lang="en-US" sz="2200" dirty="0"/>
              <a:t>Predictions were made on the test data.</a:t>
            </a:r>
          </a:p>
          <a:p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50466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1498B7-FC8A-C94B-5670-4F2B7C26F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Model Evaluation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B7B4B-3D26-0C12-5C01-544BF2AE1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dirty="0"/>
              <a:t>Model performance was evaluated using accuracy.</a:t>
            </a:r>
          </a:p>
          <a:p>
            <a:r>
              <a:rPr lang="en-US" sz="2200" dirty="0"/>
              <a:t>The model achieved an accuracy of 88,6%</a:t>
            </a:r>
          </a:p>
          <a:p>
            <a:r>
              <a:rPr lang="en-US" sz="2200" dirty="0"/>
              <a:t>This shows how well the model predicts stress levels.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82052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B6D030-8111-70B4-2210-842F03A56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Conclusion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A7B74-C95B-8456-C316-50582E082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dirty="0"/>
              <a:t>Several factors influence student stress levels.</a:t>
            </a:r>
          </a:p>
          <a:p>
            <a:r>
              <a:rPr lang="en-US" sz="2200" dirty="0"/>
              <a:t>Strong relationships were observed between variables.</a:t>
            </a:r>
          </a:p>
          <a:p>
            <a:r>
              <a:rPr lang="en-US" sz="2200" dirty="0"/>
              <a:t>The model provides a basic prediction of stress levels.</a:t>
            </a:r>
          </a:p>
          <a:p>
            <a:r>
              <a:rPr lang="en-US" sz="2200" dirty="0"/>
              <a:t>The model can be improved with more advanced techniques.</a:t>
            </a:r>
          </a:p>
        </p:txBody>
      </p:sp>
    </p:spTree>
    <p:extLst>
      <p:ext uri="{BB962C8B-B14F-4D97-AF65-F5344CB8AC3E}">
        <p14:creationId xmlns:p14="http://schemas.microsoft.com/office/powerpoint/2010/main" val="45649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F66387C-75A3-44C3-8FE5-C84A7F6F9D35}">
  <we:reference id="444c804e-8891-41f9-b246-f6dac759fca9" version="3.7.0.0" store="EXCatalog" storeType="EXCatalog"/>
  <we:alternateReferences>
    <we:reference id="WA104380518" version="3.7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448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Stress Level Prediction using Data Analysis and Machine Learning</vt:lpstr>
      <vt:lpstr>Project Objective</vt:lpstr>
      <vt:lpstr>Dataset Description</vt:lpstr>
      <vt:lpstr>Data Analysis</vt:lpstr>
      <vt:lpstr>Correlation Heatmap</vt:lpstr>
      <vt:lpstr>Key Insights</vt:lpstr>
      <vt:lpstr>Stress Level Distribution</vt:lpstr>
      <vt:lpstr>Machine Learning Model</vt:lpstr>
      <vt:lpstr>Model Evaluation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Foteini Knai</dc:creator>
  <cp:lastModifiedBy>Foteini Knai</cp:lastModifiedBy>
  <cp:revision>4</cp:revision>
  <dcterms:created xsi:type="dcterms:W3CDTF">2026-04-19T15:04:12Z</dcterms:created>
  <dcterms:modified xsi:type="dcterms:W3CDTF">2026-04-20T14:13:18Z</dcterms:modified>
</cp:coreProperties>
</file>